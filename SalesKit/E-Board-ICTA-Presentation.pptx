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presProps" Target="presProps.xml"/>
  <Relationship Id="rId19" Type="http://schemas.openxmlformats.org/officeDocument/2006/relationships/viewProps" Target="viewProps.xml"/>
  <Relationship Id="rId20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682222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571500" y="571500"/>
          <a:ext cx="8191500" cy="4095750"/>
          <a:chOff x="571500" y="571500"/>
          <a:chExt cx="8191500" cy="4095750"/>
        </a:xfrm>
      </p:grpSpPr>
      <p:sp>
        <p:nvSpPr>
          <p:cNvPr id="2" name=""/>
          <p:cNvSpPr txBox="1"/>
          <p:nvPr/>
        </p:nvSpPr>
        <p:spPr>
          <a:xfrm>
            <a:off x="952500" y="571500"/>
            <a:ext cx="68580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Presented to ICT Authority Keny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52500" y="1238250"/>
            <a:ext cx="6858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-BOAR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igital Board Governance Platfo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952500" y="2857500"/>
            <a:ext cx="6858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Centralizing board operations, meeting management
and institutional accountability]]></a:t>
            </a:r>
          </a:p>
        </p:txBody>
      </p:sp>
      <p:sp>
        <p:nvSpPr>
          <p:cNvPr id="6" name=""/>
          <p:cNvSpPr txBox="1"/>
          <p:nvPr/>
        </p:nvSpPr>
        <p:spPr>
          <a:xfrm>
            <a:off x="952500" y="3810000"/>
            <a:ext cx="68580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Losvinca Technology Solution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90500"/>
          <a:ext cx="8810625" cy="2762250"/>
          <a:chOff x="381000" y="190500"/>
          <a:chExt cx="8810625" cy="2762250"/>
        </a:xfrm>
      </p:grpSpPr>
      <p:sp>
        <p:nvSpPr>
          <p:cNvPr id="2" name=""/>
          <p:cNvSpPr txBox="1"/>
          <p:nvPr/>
        </p:nvSpPr>
        <p:spPr>
          <a:xfrm>
            <a:off x="381000" y="190500"/>
            <a:ext cx="1905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THE CHALLENG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76250"/>
            <a:ext cx="8096250" cy="5238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Board Governance in Kenyan
Institutions Is Still Largely Manu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143000"/>
            <a:ext cx="66675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Most government bodies and state corporations still manage board operations through fragmented, manual processes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666875"/>
            <a:ext cx="2000250" cy="1095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Email-Based Distribution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Board papers circulated as email attachments with no version control or access tracking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524125" y="1666875"/>
            <a:ext cx="2000250" cy="1095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Physical Board Packs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Printed documents manually assembled, distributed, and often misplaced or leaked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667250" y="1666875"/>
            <a:ext cx="2000250" cy="1095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WhatsApp Communication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Board discussions on personal messaging apps with no audit trail or institutional contro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810375" y="1666875"/>
            <a:ext cx="2000250" cy="1095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Scattered Records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Minutes, resolutions, and action items tracked in spreadsheets or filing cabinets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90500"/>
          <a:ext cx="8810625" cy="2952750"/>
          <a:chOff x="381000" y="190500"/>
          <a:chExt cx="8810625" cy="2952750"/>
        </a:xfrm>
      </p:grpSpPr>
      <p:sp>
        <p:nvSpPr>
          <p:cNvPr id="2" name=""/>
          <p:cNvSpPr txBox="1"/>
          <p:nvPr/>
        </p:nvSpPr>
        <p:spPr>
          <a:xfrm>
            <a:off x="381000" y="19050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WHY IT MATTER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7625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he Cost of Fragmented Board Processe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047750"/>
            <a:ext cx="2000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6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0%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524000"/>
            <a:ext cx="200025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Audit Trail on Emai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524125" y="1047750"/>
            <a:ext cx="2000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6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72hr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524125" y="1524000"/>
            <a:ext cx="200025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Typical Paper Distribu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667250" y="1047750"/>
            <a:ext cx="2000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6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40%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67250" y="1524000"/>
            <a:ext cx="200025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Resolutions Not Tracked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810375" y="1047750"/>
            <a:ext cx="2000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6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6810375" y="1524000"/>
            <a:ext cx="200025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Version Control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81000" y="2000250"/>
            <a:ext cx="4095750" cy="9525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Governance Risk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No centralized record of board decisions, conflict declarations, or attendance. Audit queries go unanswered. Mwongozo compliance becomes aspirational.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67250" y="2000250"/>
            <a:ext cx="4095750" cy="9525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Operational Inefficiency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Corporation Secretaries spend days assembling board packs. CEOs review papers without structured workflows. Follow-up depends on personal memory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90500"/>
          <a:ext cx="8763000" cy="3000375"/>
          <a:chOff x="381000" y="190500"/>
          <a:chExt cx="8763000" cy="3000375"/>
        </a:xfrm>
      </p:grpSpPr>
      <p:sp>
        <p:nvSpPr>
          <p:cNvPr id="2" name=""/>
          <p:cNvSpPr txBox="1"/>
          <p:nvPr/>
        </p:nvSpPr>
        <p:spPr>
          <a:xfrm>
            <a:off x="381000" y="19050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THE SOLUTIO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523875"/>
            <a:ext cx="8096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-Boar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095375"/>
            <a:ext cx="714375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A ready-to-deploy digital governance platform that manages the entire board meeting lifecycle — from annual planning to resolution tracking — in one secure, centralized syste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2000250"/>
            <a:ext cx="2667000" cy="10001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urpose-Built for Governance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Designed specifically for board and committee operations, not adapted from generic tool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38500" y="2000250"/>
            <a:ext cx="2667000" cy="10001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apid Deployment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6-step setup wizard configures the platform for any institution in under an hou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096000" y="2000250"/>
            <a:ext cx="2667000" cy="10001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ilt for Kenya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Kenyan fiscal year, 10-day notice compliance, 47 counties, local support and hosting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42875"/>
          <a:ext cx="8858250" cy="3238500"/>
          <a:chOff x="381000" y="142875"/>
          <a:chExt cx="8858250" cy="3238500"/>
        </a:xfrm>
      </p:grpSpPr>
      <p:sp>
        <p:nvSpPr>
          <p:cNvPr id="2" name=""/>
          <p:cNvSpPr txBox="1"/>
          <p:nvPr/>
        </p:nvSpPr>
        <p:spPr>
          <a:xfrm>
            <a:off x="38100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CORE ARCHITECTUR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0005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lete 10-Stage Meeting Lifecycle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809625"/>
            <a:ext cx="714375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Every board meeting follows a structured, auditable workflow from initiation to minutes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190625"/>
            <a:ext cx="1619250" cy="428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76200" rIns="91440" tIns="5715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1. Meeting Initiatio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095500" y="1190625"/>
            <a:ext cx="1619250" cy="428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76200" rIns="91440" tIns="5715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09B3A">
                    <a:alpha val="100000"/>
                  </a:srgbClr>
                </a:solidFill>
                <a:latin typeface="Calibri"/>
              </a:rPr>
              <a:t><![CDATA[2. Internal Notice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810000" y="1190625"/>
            <a:ext cx="1619250" cy="428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76200" rIns="91440" tIns="5715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3. CEO Approv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524500" y="1190625"/>
            <a:ext cx="1619250" cy="428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76200" rIns="91440" tIns="5715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4. Officer Assignment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239000" y="1190625"/>
            <a:ext cx="1619250" cy="428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76200" rIns="91440" tIns="5715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09B3A">
                    <a:alpha val="100000"/>
                  </a:srgbClr>
                </a:solidFill>
                <a:latin typeface="Calibri"/>
              </a:rPr>
              <a:t><![CDATA[5. Paper Preparatio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381000" y="1714500"/>
            <a:ext cx="1619250" cy="428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76200" rIns="91440" tIns="5715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6. Director Review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095500" y="1714500"/>
            <a:ext cx="1619250" cy="428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76200" rIns="91440" tIns="5715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7. CEO Review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810000" y="1714500"/>
            <a:ext cx="1619250" cy="428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76200" rIns="91440" tIns="5715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09B3A">
                    <a:alpha val="100000"/>
                  </a:srgbClr>
                </a:solidFill>
                <a:latin typeface="Calibri"/>
              </a:rPr>
              <a:t><![CDATA[8. Agenda Building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524500" y="1714500"/>
            <a:ext cx="1619250" cy="428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76200" rIns="91440" tIns="5715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9. Live Meeting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239000" y="1714500"/>
            <a:ext cx="1619250" cy="428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76200" rIns="91440" tIns="5715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10. Minutes Capture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81000" y="2476500"/>
            <a:ext cx="4095750" cy="762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ulti-Stage Paper Review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Board papers flow through Officer → Director → CEO with comments, annotations, and version tracking at each stage.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667250" y="2476500"/>
            <a:ext cx="4095750" cy="762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Live Meeting Operation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Digital attendance register, OTP-verified conflict of interest declarations with e-signatures, real-time agenda management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90500"/>
          <a:ext cx="8763000" cy="3333750"/>
          <a:chOff x="381000" y="190500"/>
          <a:chExt cx="8763000" cy="3333750"/>
        </a:xfrm>
      </p:grpSpPr>
      <p:sp>
        <p:nvSpPr>
          <p:cNvPr id="2" name=""/>
          <p:cNvSpPr txBox="1"/>
          <p:nvPr/>
        </p:nvSpPr>
        <p:spPr>
          <a:xfrm>
            <a:off x="381000" y="19050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KEY CAPABILITY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7625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Board Paper Management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95250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A structured workflow replaces email attachments with controlled, versioned, reviewable board papers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428750"/>
            <a:ext cx="2667000" cy="952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Structured Submission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Officers prepare papers with supporting annexures. Multiple file formats supported up to 20MB per document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38500" y="1428750"/>
            <a:ext cx="2667000" cy="952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Three-Stage Review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Papers reviewed by Director, then CEO. Each reviewer can approve, reject with comments, or add sticky-note annotations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096000" y="1428750"/>
            <a:ext cx="2667000" cy="952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Version History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Every version of a paper is retained. Rejected papers are revised and resubmitted with a complete audit trail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524125"/>
            <a:ext cx="4095750" cy="8096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Automated Notifications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Email notifications at every status change — submission, review, approval, rejection. 33+ email templates for the complete workflow.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67250" y="2524125"/>
            <a:ext cx="4095750" cy="8096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Controlled Access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Board members see only papers for their committees. Three visibility levels ensure confidential papers reach only authorized recipient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90500"/>
          <a:ext cx="8763000" cy="2952750"/>
          <a:chOff x="381000" y="190500"/>
          <a:chExt cx="8763000" cy="2952750"/>
        </a:xfrm>
      </p:grpSpPr>
      <p:sp>
        <p:nvSpPr>
          <p:cNvPr id="2" name=""/>
          <p:cNvSpPr txBox="1"/>
          <p:nvPr/>
        </p:nvSpPr>
        <p:spPr>
          <a:xfrm>
            <a:off x="381000" y="19050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KEY CAPABILITY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7625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Meeting Lifecycle Management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952500"/>
            <a:ext cx="4191000" cy="2000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•  Almanac Planning — Annual meeting schedule tied to financial year with CEO approval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•  Meeting Initiation — Create meetings from approved almanac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•  10-Day Board Notice — Automated notice with Kenyan governance compliance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•  Agenda Building — Drag-and-drop agenda items, assign paper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•  Attendance Tracking — Digital register with PDF and CSV export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•  Minutes Capture — Per-agenda-item minutes with Word export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•  Board Resolutions — Record, assign, set due dates, track statu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0" y="952500"/>
            <a:ext cx="4000500" cy="9048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Conflict of Interest Register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Board members declare conflicts with OTP email verification and digital signature capture. Exportable as PDF or CSV for compliance records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0" y="2000250"/>
            <a:ext cx="4000500" cy="9048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Resolution Tracking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Every resolution is assigned to a responsible officer with a due date. Status tracked through: Pending → In Progress → Completed or Overdu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42875"/>
          <a:ext cx="8763000" cy="3000375"/>
          <a:chOff x="381000" y="142875"/>
          <a:chExt cx="8763000" cy="3000375"/>
        </a:xfrm>
      </p:grpSpPr>
      <p:sp>
        <p:nvSpPr>
          <p:cNvPr id="2" name=""/>
          <p:cNvSpPr txBox="1"/>
          <p:nvPr/>
        </p:nvSpPr>
        <p:spPr>
          <a:xfrm>
            <a:off x="38100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BOARD MEMBER EXPERIENC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0005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Pad-Optimized Board Port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80962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Board members access a dedicated, clean portal designed for tablet and desktop use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238250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eeting Calendar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Visual calendar showing all scheduled meetings for the member's committee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38500" y="1238250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oard Paper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View approved papers with digital sticky notes for personal annotation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096000" y="1238250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Official Notice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Access meeting notices and download them directly from the port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190750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y Committee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View committee memberships, details, and committee-specific document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2190750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ocument Repository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Access categorized institutional documents with controlled visibility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096000" y="2190750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tive Meeting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Join live meetings, view agenda, submit conflict declarations in real time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42875"/>
          <a:ext cx="8953500" cy="3362325"/>
          <a:chOff x="381000" y="142875"/>
          <a:chExt cx="8953500" cy="3362325"/>
        </a:xfrm>
      </p:grpSpPr>
      <p:sp>
        <p:nvSpPr>
          <p:cNvPr id="2" name=""/>
          <p:cNvSpPr txBox="1"/>
          <p:nvPr/>
        </p:nvSpPr>
        <p:spPr>
          <a:xfrm>
            <a:off x="38100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SECURITY & COMPLIANC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00050"/>
            <a:ext cx="8382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Enterprise-Grade Security for Sensitive Board Informatio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904875"/>
            <a:ext cx="4191000" cy="7429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Two-Factor Authentication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OTP-based 2FA via email on every login. 6-digit codes with 5-minute expiry, throttled to prevent brute force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0" y="904875"/>
            <a:ext cx="4191000" cy="7429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Role-Based Access Control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10 system roles with granular permissions. Each user sees only what their role allows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4191000" cy="7429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Account Protection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Automatic lockout after failed login attempts. Forced password change on first login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0" y="1762125"/>
            <a:ext cx="4191000" cy="7429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Comprehensive Audit Trail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Every action logged automatically — who, what, when, where. Before-and-after values captured. IP address recorded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619375"/>
            <a:ext cx="4191000" cy="7429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Document Access Control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Three visibility levels: all board members, committee-only, or specific named individuals.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762500" y="2619375"/>
            <a:ext cx="4191000" cy="7429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CSRF & Encryption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Cross-site request forgery protection, encrypted cookies, secure session management, API token auth via Sanctum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42875"/>
          <a:ext cx="8763000" cy="2952750"/>
          <a:chOff x="381000" y="142875"/>
          <a:chExt cx="8763000" cy="2952750"/>
        </a:xfrm>
      </p:grpSpPr>
      <p:sp>
        <p:nvSpPr>
          <p:cNvPr id="2" name=""/>
          <p:cNvSpPr txBox="1"/>
          <p:nvPr/>
        </p:nvSpPr>
        <p:spPr>
          <a:xfrm>
            <a:off x="38100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INSTITUTIONAL MEMORY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0005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ocument Repository & Export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952500"/>
            <a:ext cx="409575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Centralized Document Repository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238250"/>
            <a:ext cx="409575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•  Organized by categories with icons and display ordering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•  Supports PDF, Word, Excel, PowerPoint, CSV, images — up to 20MB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•  Three access tiers: all members, committee-only, or named individual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•  Download tracking and access verification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•  Accessible to board members through the port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67250" y="952500"/>
            <a:ext cx="409575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Generated Reports & Export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667250" y="1238250"/>
            <a:ext cx="409575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•  PDF: Almanac, board notices (letterhead), attendance, conflict register, audit log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•  CSV: Attendance register, conflict register (Excel-compatible UTF-8)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•  Word: Meeting minutes with structured formatting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•  Digital Signatures: Signature pad capture and PDF document signing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42875"/>
          <a:ext cx="8763000" cy="3476625"/>
          <a:chOff x="381000" y="142875"/>
          <a:chExt cx="8763000" cy="3476625"/>
        </a:xfrm>
      </p:grpSpPr>
      <p:sp>
        <p:nvSpPr>
          <p:cNvPr id="2" name=""/>
          <p:cNvSpPr txBox="1"/>
          <p:nvPr/>
        </p:nvSpPr>
        <p:spPr>
          <a:xfrm>
            <a:off x="38100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DEPLOYME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0005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White-Label Platform with Rapid Setup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8572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E-Board adapts to any institution's identity and deploys in hours, not months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285875"/>
            <a:ext cx="2667000" cy="9048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Full Branding Control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Institution logos, colors, letterhead, favicon, CEO signature image, login background — all configurable from admi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38500" y="1285875"/>
            <a:ext cx="2667000" cy="9048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6-Step Setup Wizard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Institution identity, branding, workflow settings, role labels, email config, admin account — guided setup in under an hour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096000" y="1285875"/>
            <a:ext cx="2667000" cy="9048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Configurable Roles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Rename any of the 10 system roles to match your institution's terminology. Customize signatory titles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381250"/>
            <a:ext cx="40957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Technology Stack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619375"/>
            <a:ext cx="409575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Backend: Laravel (PHP 8+), MySQL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Frontend: Bootstrap 5, Alpine.js, Tailwind CS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PDF: DomPDF with institutional letterhead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Documents: PHPWord for Word export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67250" y="2381250"/>
            <a:ext cx="40957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Infrastructure Requirement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67250" y="2619375"/>
            <a:ext cx="409575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Server: PHP 8.0+, MySQL 5.7+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Web Server: Apache or Nginx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Email: Any SMTP server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SSL: Required for production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285750" y="142875"/>
          <a:ext cx="8667750" cy="3381375"/>
          <a:chOff x="285750" y="142875"/>
          <a:chExt cx="8667750" cy="3381375"/>
        </a:xfrm>
      </p:grpSpPr>
      <p:sp>
        <p:nvSpPr>
          <p:cNvPr id="2" name=""/>
          <p:cNvSpPr txBox="1"/>
          <p:nvPr/>
        </p:nvSpPr>
        <p:spPr>
          <a:xfrm>
            <a:off x="38100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COMPARISO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0005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E-Board vs. Current Approaches]]></a:t>
            </a:r>
          </a:p>
        </p:txBody>
      </p:sp>
      <p:graphicFrame>
        <p:nvGraphicFramePr>
          <p:cNvPr id="4" name="" descr=""/>
          <p:cNvGraphicFramePr>
            <a:graphicFrameLocks noGrp="1"/>
          </p:cNvGraphicFramePr>
          <p:nvPr/>
        </p:nvGraphicFramePr>
        <p:xfrm>
          <a:off x="285750" y="904875"/>
          <a:ext cx="8382000" cy="2476500"/>
        </p:xfrm>
        <a:graphic>
          <a:graphicData uri="http://schemas.openxmlformats.org/drawingml/2006/table">
            <a:tbl>
              <a:tblPr firstRow="1" bandRow="1"/>
              <a:tblGrid>
                <a:gridCol w="1397000"/>
                <a:gridCol w="1397000"/>
                <a:gridCol w="1397000"/>
                <a:gridCol w="1397000"/>
                <a:gridCol w="1397000"/>
                <a:gridCol w="1397000"/>
              </a:tblGrid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Capability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3B7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-Board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3B7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mai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3B7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WhatsApp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3B7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Shared Drive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3B7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Manua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3B7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Board Paper Workflow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09B3A">
                              <a:alpha val="100000"/>
                            </a:srgbClr>
                          </a:solidFill>
                          <a:latin typeface="Calibri"/>
                        </a:rPr>
                        <a:t><![CDATA[Full 3-stag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Attachment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Files only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Meeting Lifecycl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09B3A">
                              <a:alpha val="100000"/>
                            </a:srgbClr>
                          </a:solidFill>
                          <a:latin typeface="Calibri"/>
                        </a:rPr>
                        <a:t><![CDATA[10-stag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Manua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Agenda Management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09B3A">
                              <a:alpha val="100000"/>
                            </a:srgbClr>
                          </a:solidFill>
                          <a:latin typeface="Calibri"/>
                        </a:rPr>
                        <a:t><![CDATA[Ful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Document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Paper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Resolution Tracking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09B3A">
                              <a:alpha val="100000"/>
                            </a:srgbClr>
                          </a:solidFill>
                          <a:latin typeface="Calibri"/>
                        </a:rPr>
                        <a:t><![CDATA[Ful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Spreadsheet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Audit Trai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09B3A">
                              <a:alpha val="100000"/>
                            </a:srgbClr>
                          </a:solidFill>
                          <a:latin typeface="Calibri"/>
                        </a:rPr>
                        <a:t><![CDATA[Automatic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File log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Role-Based Acces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09B3A">
                              <a:alpha val="100000"/>
                            </a:srgbClr>
                          </a:solidFill>
                          <a:latin typeface="Calibri"/>
                        </a:rPr>
                        <a:t><![CDATA[10 role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Folder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10-Day Notic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09B3A">
                              <a:alpha val="100000"/>
                            </a:srgbClr>
                          </a:solidFill>
                          <a:latin typeface="Calibri"/>
                        </a:rPr>
                        <a:t><![CDATA[Automated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Manua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Manua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Manua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Conflict of Interest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09B3A">
                              <a:alpha val="100000"/>
                            </a:srgbClr>
                          </a:solidFill>
                          <a:latin typeface="Calibri"/>
                        </a:rPr>
                        <a:t><![CDATA[OTP + Sig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Paper form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Institutional Branding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09B3A">
                              <a:alpha val="100000"/>
                            </a:srgbClr>
                          </a:solidFill>
                          <a:latin typeface="Calibri"/>
                        </a:rPr>
                        <a:t><![CDATA[Ful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3333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Local Support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Kenya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N/A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N/A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Varie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2A3A">
                              <a:alpha val="100000"/>
                            </a:srgbClr>
                          </a:solidFill>
                          <a:latin typeface="Calibri"/>
                        </a:rPr>
                        <a:t><![CDATA[N/A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8F9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42875"/>
          <a:ext cx="8763000" cy="3286125"/>
          <a:chOff x="381000" y="142875"/>
          <a:chExt cx="8763000" cy="3286125"/>
        </a:xfrm>
      </p:grpSpPr>
      <p:sp>
        <p:nvSpPr>
          <p:cNvPr id="2" name=""/>
          <p:cNvSpPr txBox="1"/>
          <p:nvPr/>
        </p:nvSpPr>
        <p:spPr>
          <a:xfrm>
            <a:off x="38100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TARGET INSTITUTION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0005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ilt for Organizations with Formal Board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904875"/>
            <a:ext cx="2667000" cy="381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Government Ministries & Agencie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238500" y="904875"/>
            <a:ext cx="2667000" cy="381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tate Corporation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6096000" y="904875"/>
            <a:ext cx="2667000" cy="381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unty Government Entitie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381125"/>
            <a:ext cx="2667000" cy="381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Universities & Public Institution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381125"/>
            <a:ext cx="2667000" cy="381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GOs & Foundation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096000" y="1381125"/>
            <a:ext cx="2667000" cy="381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egulatory Bodie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381000" y="1857375"/>
            <a:ext cx="2667000" cy="381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fessional Association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238500" y="1857375"/>
            <a:ext cx="2667000" cy="381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ivate Companie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6096000" y="1857375"/>
            <a:ext cx="2667000" cy="381000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ulti-Subsidiary Group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381000" y="2476500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0 Configurable Roles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Superadmin, CEO, Corporation Secretary, Director, Division Head, DD Internal Audit, DD ICT, Board Member, Officer, Ad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3238500" y="2476500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Kenyan Compliance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July–June fiscal year, 10-day notice, conflict of interest register, 47 counties pre-loaded, Mwongozo-aligned workflows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096000" y="2476500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mittee Structure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Unlimited boards and committees with audit committee designation. Members assigned across multiple committees.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42875"/>
          <a:ext cx="8858250" cy="3552825"/>
          <a:chOff x="381000" y="142875"/>
          <a:chExt cx="8858250" cy="3552825"/>
        </a:xfrm>
      </p:grpSpPr>
      <p:sp>
        <p:nvSpPr>
          <p:cNvPr id="2" name=""/>
          <p:cNvSpPr txBox="1"/>
          <p:nvPr/>
        </p:nvSpPr>
        <p:spPr>
          <a:xfrm>
            <a:off x="38100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072BC">
                    <a:alpha val="100000"/>
                  </a:srgbClr>
                </a:solidFill>
                <a:latin typeface="Calibri"/>
              </a:rPr>
              <a:t><![CDATA[IMPLEMENTATIO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40005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From Setup to First Meeting in Day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904875"/>
            <a:ext cx="4476750" cy="5905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Phase 1: Platform Setup (Day 1–2)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Run setup wizard, configure branding, set up SMTP email, define roles and organizational structure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590675"/>
            <a:ext cx="4476750" cy="5905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Phase 2: Data Migration (Day 3–5)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Onboard board members with profiles and documents. Set up committees. Create financial year and almanac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2276475"/>
            <a:ext cx="4476750" cy="5905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Phase 3: Training (Day 6–8)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Role-specific training for Corporation Secretary, CEO, Directors, and Board Members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2962275"/>
            <a:ext cx="4476750" cy="5905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0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Phase 4: Go-Live (Day 9–10)]]></a:t>
            </a:r>
            <a:br/>
            <a:r>
              <a:rPr lang="en-US" strike="noStrike" sz="10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First meeting managed through E-Board. On-site support during initial board meeting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048250" y="904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Support Mode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048250" y="1190625"/>
            <a:ext cx="3810000" cy="1238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Dedicated account manager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Email and phone support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Platform updates and maintenance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User onboarding assistance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Quarterly review meeting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Data backup and recovery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048250" y="2571750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2A3A">
                    <a:alpha val="100000"/>
                  </a:srgbClr>
                </a:solidFill>
                <a:latin typeface="Calibri"/>
              </a:rPr>
              <a:t><![CDATA[Hosting Option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048250" y="2809875"/>
            <a:ext cx="3810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On-Premise: Institution's own server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A6A7A">
                    <a:alpha val="100000"/>
                  </a:srgbClr>
                </a:solidFill>
                <a:latin typeface="Calibri"/>
              </a:rPr>
              <a:t><![CDATA[•  Cloud: Managed cloud hosting with SLA]]>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381000" y="142875"/>
          <a:ext cx="8763000" cy="3619500"/>
          <a:chOff x="381000" y="142875"/>
          <a:chExt cx="8763000" cy="3619500"/>
        </a:xfrm>
      </p:grpSpPr>
      <p:sp>
        <p:nvSpPr>
          <p:cNvPr id="2" name=""/>
          <p:cNvSpPr txBox="1"/>
          <p:nvPr/>
        </p:nvSpPr>
        <p:spPr>
          <a:xfrm>
            <a:off x="38100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NEXT STEP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523875"/>
            <a:ext cx="7620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eady to Digitize
Board Governance?]]></a:t>
            </a:r>
          </a:p>
        </p:txBody>
      </p:sp>
      <p:sp>
        <p:nvSpPr>
          <p:cNvPr id="4" name=""/>
          <p:cNvSpPr txBox="1"/>
          <p:nvPr/>
        </p:nvSpPr>
        <p:spPr>
          <a:xfrm>
            <a:off x="952500" y="1428750"/>
            <a:ext cx="6858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We invite ICT Authority to experience E-Board through a guided demonstration and institutional pilot programme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2047875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. Live Demo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45-minute walkthrough of E-Board using your institution's workflow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38500" y="2047875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2. 30-Day Pilot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Full platform access for one board or committee with training and suppo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096000" y="2047875"/>
            <a:ext cx="2667000" cy="809625"/>
          </a:xfrm>
          <a:prstGeom prst="rect">
            <a:avLst/>
          </a:prstGeom>
          <a:solidFill>
            <a:srgbClr val="0A2540">
              <a:alpha val="100000"/>
            </a:srgbClr>
          </a:solidFill>
          <a:ln w="9525" cap="flat" cmpd="sng" algn="ctr">
            <a:solidFill>
              <a:srgbClr val="1A3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3. Go Live]]></a:t>
            </a:r>
            <a:br/>
            <a:r>
              <a:rPr lang="en-US" strike="noStrike" sz="10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Full deployment with institutional branding, data migration, and SL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905000" y="3095625"/>
            <a:ext cx="4953000" cy="523875"/>
          </a:xfrm>
          <a:prstGeom prst="rect">
            <a:avLst/>
          </a:prstGeom>
          <a:solidFill>
            <a:srgbClr val="1A2A3A">
              <a:alpha val="100000"/>
            </a:srgbClr>
          </a:solidFill>
          <a:ln w="19050" cap="flat" cmpd="sng" algn="ctr">
            <a:solidFill>
              <a:srgbClr val="F7941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45720" lIns="142875" rIns="91440" tIns="7620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F7941D">
                    <a:alpha val="100000"/>
                  </a:srgbClr>
                </a:solidFill>
                <a:latin typeface="Calibri"/>
              </a:rPr>
              <a:t><![CDATA[Losvinca Technology Solutions]]></a:t>
            </a:r>
            <a:br/>
            <a:r>
              <a:rPr lang="en-US" strike="noStrike" sz="1100" spc="0" u="none" cap="none">
                <a:solidFill>
                  <a:srgbClr val="8AAFC8">
                    <a:alpha val="100000"/>
                  </a:srgbClr>
                </a:solidFill>
                <a:latin typeface="Calibri"/>
              </a:rPr>
              <a:t><![CDATA[Contact us to schedule a demonstration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9">
  <a:themeElements>
    <a:clrScheme name="Theme9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15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Losvinca</dc:creator>
  <cp:lastModifiedBy>Unknown Creator</cp:lastModifiedBy>
  <dcterms:created xsi:type="dcterms:W3CDTF">2026-08-27T04:45:50Z</dcterms:created>
  <dcterms:modified xsi:type="dcterms:W3CDTF">2026-08-27T04:45:50Z</dcterms:modified>
  <dc:title>E-Board Digital Board Governance Platform</dc:title>
  <dc:description>E-Board capabilities presentation for ICT Authority Kenya</dc:description>
  <dc:subject>ICT Authority Kenya Presentation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