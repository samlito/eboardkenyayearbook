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68231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4629150"/>
          <a:chOff x="0" y="0"/>
          <a:chExt cx="8724900" cy="462915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57150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4572000"/>
            <a:ext cx="8724900" cy="57150"/>
          </a:xfrm>
          <a:prstGeom prst="rect">
            <a:avLst/>
          </a:prstGeom>
          <a:solidFill>
            <a:srgbClr val="CC000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571500" y="285750"/>
            <a:ext cx="7620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ICT AUTHORITY KENY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762000"/>
            <a:ext cx="7620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-BOAR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476375"/>
            <a:ext cx="7620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Board Governance Platfor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2381250"/>
            <a:ext cx="762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A whole-of-government solution for managing board operations,
meeting workflows, and institutional accountabilit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524250"/>
            <a:ext cx="7620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Ministry of Information, Communications & The Digital Economy]]></a:t>
            </a:r>
            <a:br/>
          </a:p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ICT Authority  |  www.icta.go.k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762375"/>
          <a:chOff x="0" y="0"/>
          <a:chExt cx="8724900" cy="3762375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9050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ABOUT U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76250"/>
            <a:ext cx="7810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ICT Authority Keny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952500"/>
            <a:ext cx="7429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A State Corporation under the Ministry of Information, Communications & The Digital Economy, established in August 2013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524000"/>
            <a:ext cx="3810000" cy="571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Vis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"A digitally empowered society."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476750" y="1524000"/>
            <a:ext cx="3810000" cy="571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Miss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"To digitally empower society through the provision of quality ICT services, implementation of industry best practices, and by leveraging technology."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76250" y="2286000"/>
            <a:ext cx="7810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Formed through the merger of: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2552700"/>
            <a:ext cx="3810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Kenya ICT Board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Government IT Services (GITS)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e-Government Directorat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476750" y="2286000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re Values: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476750" y="2552700"/>
            <a:ext cx="3810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Innovation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Citizen-Focu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Transparency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Agility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" y="3476625"/>
            <a:ext cx="7810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Guided by the National Digital Masterplan 2022–2032 and Strategic Plan 2024–2027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619500"/>
          <a:chOff x="0" y="0"/>
          <a:chExt cx="8724900" cy="36195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OUR MANDAT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57200"/>
            <a:ext cx="7810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riving Digital Transformation in Governmen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1047750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CT Standard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Setting and enforcing ICT standards for all public-sector entities across national and county government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143250" y="1047750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-Government Service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Championing the rollout of e-Government services and driving digital service delivery to citize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047750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CT Infrastructure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Establishing and maintaining secure national ICT infrastructure including NOFBI backbo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76250" y="2047875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Literacy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Promoting ICT literacy and digital skills development across government and public institu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143250" y="2047875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itical ICT Project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Overseeing and supervising critical government ICT projects and digital transformation initiative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810250" y="2047875"/>
            <a:ext cx="2476500" cy="8572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Gov Stack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Operating the integrated whole-of-government platform hosting eCitizen and digital government service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76250" y="3143250"/>
            <a:ext cx="7810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E-Board is part of ICTA's mission to digitize government operations.
Board governance is a critical function in every state corporation and public institution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524250"/>
          <a:chOff x="0" y="0"/>
          <a:chExt cx="8724900" cy="352425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THE CHALLENG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57200"/>
            <a:ext cx="7905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Board Governance in Government
Institutions Is Still Largely Manu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1028700"/>
            <a:ext cx="74295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Most state corporations and public institutions manage board operations through fragmented, manual processes that create governance risk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524000"/>
            <a:ext cx="1905000" cy="1047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Email-Based Distribut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Board papers circulated as email attachments with no version control or access trackin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524125" y="1524000"/>
            <a:ext cx="1905000" cy="1047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Physical Board Pack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Printed documents manually assembled, distributed, and often misplaced or leak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572000" y="1524000"/>
            <a:ext cx="1905000" cy="1047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WhatsApp Group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Board discussions on personal messaging apps with no audit trail or institutional contro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19875" y="1524000"/>
            <a:ext cx="1905000" cy="1047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Scattered Record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Minutes, resolutions, and action items tracked in spreadsheets or filing cabinet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76250" y="2762250"/>
            <a:ext cx="78105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CC0000">
                    <a:alpha val="100000"/>
                  </a:srgbClr>
                </a:solidFill>
                <a:latin typeface="Calibri"/>
              </a:rPr>
              <a:t><![CDATA[These challenges affect governance, compliance, and accountability across
hundreds of government boards, state corporations, and public institutions in Keny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429000"/>
          <a:chOff x="0" y="0"/>
          <a:chExt cx="8724900" cy="34290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CC000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WHY IT MATTER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5720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e Cost of Fragmented Board Process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1000125"/>
            <a:ext cx="190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0%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476375"/>
            <a:ext cx="1905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Audit Trail on Emai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524125" y="1000125"/>
            <a:ext cx="190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72hr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524125" y="1476375"/>
            <a:ext cx="1905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Paper Distribution Tim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572000" y="1000125"/>
            <a:ext cx="190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40%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572000" y="1476375"/>
            <a:ext cx="1905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Resolutions Not Tracked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6619875" y="1000125"/>
            <a:ext cx="190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6619875" y="1476375"/>
            <a:ext cx="1905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Version Control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76250" y="1905000"/>
            <a:ext cx="3905250" cy="904875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overnance Risk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No centralized record of board decisions, conflict declarations, or attendance. Audit queries go unanswered. Mwongozo compliance becomes aspirational rather than operational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572000" y="1905000"/>
            <a:ext cx="3905250" cy="904875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perational Inefficiency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Corporation Secretaries spend days assembling board packs. CEOs review papers without structured workflows. Follow-up on resolutions depends on personal memory.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6250" y="3048000"/>
            <a:ext cx="7810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These inefficiencies are addressable through a purpose-built digital governance platform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571875"/>
          <a:chOff x="0" y="0"/>
          <a:chExt cx="8724900" cy="3571875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THE SOLU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523875"/>
            <a:ext cx="7905750" cy="5238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-Boar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1143000"/>
            <a:ext cx="7143750" cy="619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A ready-to-deploy digital governance platform that manages the entire board meeting lifecycle — from annual planning to resolution tracking — in one secure, centralized system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2000250"/>
            <a:ext cx="2571750" cy="9525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rpose-Built for Governance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Designed specifically for board and committee operations in government institutions, not adapted from generic tool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190875" y="2000250"/>
            <a:ext cx="2571750" cy="9525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apid Deployment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6-step setup wizard configures the platform for any institution in under an hour, with full white-label brand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905500" y="2000250"/>
            <a:ext cx="2571750" cy="9525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ilt for Kenya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Kenyan fiscal year (July–June), 10-day notice compliance, 47 counties pre-loaded, Mwongozo-align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3190875"/>
            <a:ext cx="7810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Developed to support ICTA's mandate of digitizing government operations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143250"/>
          <a:chOff x="0" y="0"/>
          <a:chExt cx="8724900" cy="314325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CORE ARCHITECTUR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38100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mplete 10-Stage Meeting Lifecyc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781050"/>
            <a:ext cx="71437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very board meeting follows a structured, auditable workflow from initiation to minute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1430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1. Meeting Initiatio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114550" y="11430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8A3F">
                    <a:alpha val="100000"/>
                  </a:srgbClr>
                </a:solidFill>
                <a:latin typeface="Calibri"/>
              </a:rPr>
              <a:t><![CDATA[2. Internal Noti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752850" y="11430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3. CEO Approv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391150" y="11430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4. Officer Assignment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029450" y="11430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8A3F">
                    <a:alpha val="100000"/>
                  </a:srgbClr>
                </a:solidFill>
                <a:latin typeface="Calibri"/>
              </a:rPr>
              <a:t><![CDATA[5. Paper Preparatio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76250" y="16383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6. Director Review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114550" y="16383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7. CEO Review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3752850" y="16383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018A3F">
                    <a:alpha val="100000"/>
                  </a:srgbClr>
                </a:solidFill>
                <a:latin typeface="Calibri"/>
              </a:rPr>
              <a:t><![CDATA[8. Agenda Buildin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391150" y="16383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CC0000">
                    <a:alpha val="100000"/>
                  </a:srgbClr>
                </a:solidFill>
                <a:latin typeface="Calibri"/>
              </a:rPr>
              <a:t><![CDATA[9. Live Meet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7029450" y="1638300"/>
            <a:ext cx="1543050" cy="400050"/>
          </a:xfrm>
          <a:prstGeom prst="rect">
            <a:avLst/>
          </a:prstGeom>
          <a:solidFill>
            <a:srgbClr val="F5F5F0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 rtlCol="0" vert="horz" bIns="45720" lIns="57150" rIns="91440" tIns="3810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10. Minutes Capture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76250" y="2381250"/>
            <a:ext cx="3905250" cy="762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Multi-Stage Paper Review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Board papers flow through Officer, Director, then CEO with comments, annotations, and version tracking at each stage. Papers can be recalled and resubmitted.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572000" y="2381250"/>
            <a:ext cx="3905250" cy="762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Live Meeting Operation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Digital attendance register, OTP-verified conflict of interest declarations with e-signatures, real-time agenda management, and structured minutes captur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048000"/>
          <a:chOff x="0" y="0"/>
          <a:chExt cx="8724900" cy="30480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KEY CAPABILIT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5720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Board Paper Managemen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876300"/>
            <a:ext cx="66675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A structured workflow replaces email attachments with controlled, versioned, reviewable board paper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28587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Structured Submiss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Officers prepare papers with supporting annexures. Multiple file formats supported up to 20MB per document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190875" y="128587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Three-Stage Review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Papers reviewed by Director, then CEO. Each reviewer can approve, reject with comments, or add annotations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905500" y="128587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Version History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very version of a paper is retained. Rejected papers are revised and resubmitted with a complete audit trail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2286000"/>
            <a:ext cx="3905250" cy="762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Automated Notification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mail notifications at every status change — submission, review, approval, rejection. 33+ email templates for the complete workflow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572000" y="2286000"/>
            <a:ext cx="3905250" cy="762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ntrolled Acces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Board members see only papers for their committees. Three visibility levels ensure confidential papers reach only authorized recipient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2857500"/>
          <a:chOff x="0" y="0"/>
          <a:chExt cx="8724900" cy="28575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KEY CAPABILIT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5720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Meeting Lifecycle Managemen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952500"/>
            <a:ext cx="4000500" cy="1905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Almanac Planning — Annual meeting schedule tied to financial year with CEO approval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Meeting Initiation — Create meetings from approved almanac with auto-populated detail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10-Day Board Notice — Automated notice generation with Kenyan governance compli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Agenda Building — Drag-and-drop agenda items, assign papers to agenda point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Attendance Tracking — Digital register with PDF and CSV ex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Minutes Capture — Per-agenda-item minutes with Word document ex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•  Board Resolutions — Record, assign, set due dates, and track through comple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67250" y="952500"/>
            <a:ext cx="3810000" cy="8096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nflict of Interest Register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Board members declare conflicts with OTP email verification and digital signature capture. Exportable as PDF or CSV for compliance records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667250" y="1905000"/>
            <a:ext cx="3810000" cy="8096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Resolution Tracking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very resolution is assigned to a responsible officer with a due date. Status tracked: Pending, In Progress, Completed, or Overdu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2828925"/>
          <a:chOff x="0" y="0"/>
          <a:chExt cx="8724900" cy="2828925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BOARD MEMBER EXPERIENC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38100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Pad-Optimized Board Port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762000"/>
            <a:ext cx="66675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Board members access a dedicated, clean portal designed for tablet and desktop use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143000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eeting Calendar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Visual calendar showing all scheduled meetings for the member's committe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190875" y="1143000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oard Paper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View approved papers with digital sticky notes for personal annota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905500" y="1143000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fficial Notice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Access meeting notices and download them directly from the port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2047875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y Committee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View committee memberships, details, and committee-specific document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3190875" y="2047875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ocument Repository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Access categorized institutional documents with controlled visibilit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905500" y="2047875"/>
            <a:ext cx="2571750" cy="7810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tive Meeting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Join live meetings, view agenda, submit conflict declarations in real time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124200"/>
          <a:chOff x="0" y="0"/>
          <a:chExt cx="8724900" cy="31242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CC000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CC0000">
                    <a:alpha val="100000"/>
                  </a:srgbClr>
                </a:solidFill>
                <a:latin typeface="Calibri"/>
              </a:rPr>
              <a:t><![CDATA[SECURITY & COMPLIANC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381000"/>
            <a:ext cx="8096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Enterprise-Grade Security for Governmen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809625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Two-Factor Authenticat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OTP-based 2FA via email on every login. 6-digit codes with 5-minute expiry, throttled to prevent brute force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67250" y="809625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Role-Based Access Control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10 system roles with granular permissions. Each user sees only what their role allows — from CEO to Board Member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1619250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Account Protect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Automatic lockout after failed login attempts. Forced password change on first login. User status enforcement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667250" y="1619250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mprehensive Audit Trail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very action logged — who, what, when, from where. Before-and-after values captured. IP address and browser recorded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2428875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Document Access Control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Three visibility levels: all board members, committee-only, or specific named individuals. Download tracking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67250" y="2428875"/>
            <a:ext cx="4000500" cy="69532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SRF & Encryption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Cross-site request forgery protection, encrypted cookies, secure session management, API token auth via Laravel Sanctum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2781300"/>
          <a:chOff x="0" y="0"/>
          <a:chExt cx="8724900" cy="27813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INSTITUTIONAL MEMOR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0005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ocument Repository & Export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904875"/>
            <a:ext cx="3905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Centralized Document Repository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162050"/>
            <a:ext cx="390525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Organized by categories with icons and display ordering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Supports PDF, Word, Excel, PowerPoint, CSV, images — up to 20MB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Three access tiers: all members, committee-only, or named individual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Download tracking and access verification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Accessible to board members through the porta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572000" y="904875"/>
            <a:ext cx="390525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Generated Reports & Expor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572000" y="1162050"/>
            <a:ext cx="390525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PDF: Almanac, board notices (with letterhead), attendance register, conflict register, audit log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CSV: Attendance register, conflict register (Excel-compatible)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Word: Meeting minutes with structured formatting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•  Digital Signatures: Signature pad capture and PDF document signing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314700"/>
          <a:chOff x="0" y="0"/>
          <a:chExt cx="8724900" cy="33147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DEPLOYMENT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0005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White-Label Platform with Rapid Setup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809625"/>
            <a:ext cx="66675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E-Board adapts to any institution's identity and deploys in hours, not month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19062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Full Branding Control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Institution logos, colors, letterhead, favicon, CEO signature image, login background — all configurable from the admin panel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190875" y="119062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6-Step Setup Wizard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Institution identity, branding, workflow settings, role labels, email configuration, admin account — guided setup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905500" y="1190625"/>
            <a:ext cx="2571750" cy="857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Configurable Roles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Rename any of the 10 system roles to match your institution's terminology. Customize signatory titles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76250" y="2238375"/>
            <a:ext cx="39052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Technology Sta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76250" y="2457450"/>
            <a:ext cx="390525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Backend: Laravel (PHP 8+), MySQL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Frontend: Bootstrap 5, Alpine.js, Tailwind CS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PDF: DomPDF with institutional letterhead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Documents: PHPWord for Word export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572000" y="2238375"/>
            <a:ext cx="390525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Infrastructure Requirements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572000" y="2457450"/>
            <a:ext cx="390525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Server: PHP 8.0+, MySQL 5.7+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Web Server: Apache or Nginx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Email: Any SMTP server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Hosting: Self-hosted or cloud with SLA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333750"/>
          <a:chOff x="0" y="0"/>
          <a:chExt cx="8724900" cy="333375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COMPARIS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0005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E-Board vs. Current Approaches]]></a:t>
            </a:r>
          </a:p>
        </p:txBody>
      </p:sp>
      <p:graphicFrame>
        <p:nvGraphicFramePr>
          <p:cNvPr id="5" name="" descr=""/>
          <p:cNvGraphicFramePr>
            <a:graphicFrameLocks noGrp="1"/>
          </p:cNvGraphicFramePr>
          <p:nvPr/>
        </p:nvGraphicFramePr>
        <p:xfrm>
          <a:off x="381000" y="857250"/>
          <a:ext cx="8001000" cy="24765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apabil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-Board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Emai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WhatsApp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Shared Drive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5A2A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Board Paper Workflow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Full 3-st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Attachment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Files onl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Meeting Lifecycl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10-st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Agenda Managemen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Document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Paper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Resolution Trackin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Spreadshee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Audit Trai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Automatic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File log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Role-Based Acces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10 role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Folder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10-Day Notic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Automated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Manua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Conflict of Interest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OTP + Si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Paper forms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5F5F0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800" spc="0" u="none" cap="none">
                          <a:solidFill>
                            <a:srgbClr val="1A1A1A">
                              <a:alpha val="100000"/>
                            </a:srgbClr>
                          </a:solidFill>
                          <a:latin typeface="Calibri"/>
                        </a:rPr>
                        <a:t><![CDATA[Institutional Branding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01A64E">
                              <a:alpha val="100000"/>
                            </a:srgbClr>
                          </a:solidFill>
                          <a:latin typeface="Calibri"/>
                        </a:rPr>
                        <a:t><![CDATA[Full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800" spc="0" u="none" cap="none">
                          <a:solidFill>
                            <a:srgbClr val="CC0000">
                              <a:alpha val="100000"/>
                            </a:srgbClr>
                          </a:solidFill>
                          <a:latin typeface="Calibri"/>
                        </a:rPr>
                        <a:t><![CDATA[No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095625"/>
          <a:chOff x="0" y="0"/>
          <a:chExt cx="8724900" cy="3095625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TARGET INSTITUTION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0005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ilt for Government & Public Bodi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8572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Government Ministries & Agenci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190875" y="8572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tate Corpora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905500" y="8572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unty Government Entiti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76250" y="13144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Universities & Public Institu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190875" y="13144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GOs & Foundation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905500" y="13144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gulatory Bodie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76250" y="17716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fessional Associations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190875" y="17716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AGAs & Parastatal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905500" y="1771650"/>
            <a:ext cx="2571750" cy="36195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ulti-Entity Groups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6250" y="2333625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0 Configurable Roles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Superadmin, CEO, Corporation Secretary, Director, Division Head, DD Internal Audit, DD ICT, Board Member, Officer, Admi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190875" y="2333625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Kenyan Compliance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July–June fiscal year, 10-day notice, conflict of interest register, 47 counties, Mwongozo-aligned workflow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5905500" y="2333625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ittee Structure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Unlimited boards and committees with audit committee designation. Role-specific access controls.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3352800"/>
          <a:chOff x="0" y="0"/>
          <a:chExt cx="8724900" cy="335280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47625"/>
          </a:xfrm>
          <a:prstGeom prst="rect">
            <a:avLst/>
          </a:prstGeom>
          <a:solidFill>
            <a:srgbClr val="01A64E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476250" y="142875"/>
            <a:ext cx="38100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01A64E">
                    <a:alpha val="100000"/>
                  </a:srgbClr>
                </a:solidFill>
                <a:latin typeface="Calibri"/>
              </a:rPr>
              <a:t><![CDATA[IMPLEMENTA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" y="400050"/>
            <a:ext cx="79057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From Setup to First Meeting in Day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857250"/>
            <a:ext cx="4286250" cy="552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Phase 1: Platform Setup (Day 1–2)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Run setup wizard, configure branding, set up SMTP email, define roles and organizational structure, create admin accounts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76250" y="1504950"/>
            <a:ext cx="4286250" cy="552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Phase 2: Data Migration (Day 3–5)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Onboard board members with profiles. Set up committees. Create financial year and almanac with meeting schedule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2152650"/>
            <a:ext cx="4286250" cy="552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Phase 3: Training (Day 6–8)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Role-specific training for Corporation Secretary, CEO, Directors, and Board Members. Hands-on sessions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76250" y="2800350"/>
            <a:ext cx="4286250" cy="552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DDE5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Phase 4: Go-Live (Day 9–10)]]></a:t>
            </a:r>
            <a:br/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First meeting managed through E-Board. On-site support during initial board meeting. Handover to ongoing support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53000" y="857250"/>
            <a:ext cx="3619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Support Mode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53000" y="1123950"/>
            <a:ext cx="36195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Dedicated account manager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Email and phone support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Platform updates and mainten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User onboarding assistance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Quarterly review meeting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Data backup and recover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953000" y="2476500"/>
            <a:ext cx="3619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1A1A1A">
                    <a:alpha val="100000"/>
                  </a:srgbClr>
                </a:solidFill>
                <a:latin typeface="Calibri"/>
              </a:rPr>
              <a:t><![CDATA[Hosting Options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53000" y="2714625"/>
            <a:ext cx="3619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On-Premise: Institution's own servers]]></a:t>
            </a:r>
            <a:br/>
          </a:p>
          <a:p>
            <a:pPr algn="l" rtl="0" fontAlgn="base" marL="190500" marR="0" indent="-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4D4D4D">
                    <a:alpha val="100000"/>
                  </a:srgbClr>
                </a:solidFill>
                <a:latin typeface="Calibri"/>
              </a:rPr>
              <a:t><![CDATA[•  Cloud: Managed cloud hosting with SLA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24900" cy="4629150"/>
          <a:chOff x="0" y="0"/>
          <a:chExt cx="8724900" cy="4629150"/>
        </a:xfrm>
      </p:grpSpPr>
      <p:sp>
        <p:nvSpPr>
          <p:cNvPr id="2" name=""/>
          <p:cNvSpPr txBox="1"/>
          <p:nvPr/>
        </p:nvSpPr>
        <p:spPr>
          <a:xfrm>
            <a:off x="0" y="0"/>
            <a:ext cx="8724900" cy="57150"/>
          </a:xfrm>
          <a:prstGeom prst="rect">
            <a:avLst/>
          </a:prstGeom>
          <a:solidFill>
            <a:srgbClr val="E8A23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"/>
          <p:cNvSpPr txBox="1"/>
          <p:nvPr/>
        </p:nvSpPr>
        <p:spPr>
          <a:xfrm>
            <a:off x="0" y="4572000"/>
            <a:ext cx="8724900" cy="57150"/>
          </a:xfrm>
          <a:prstGeom prst="rect">
            <a:avLst/>
          </a:prstGeom>
          <a:solidFill>
            <a:srgbClr val="CC000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"/>
          <p:cNvSpPr txBox="1"/>
          <p:nvPr/>
        </p:nvSpPr>
        <p:spPr>
          <a:xfrm>
            <a:off x="476250" y="171450"/>
            <a:ext cx="2857500" cy="2381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76250" y="523875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ady to Digitize
Board Governance?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62000" y="1381125"/>
            <a:ext cx="72390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We invite your institution to experience E-Board through a guided demonstration and pilot programme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76250" y="2000250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. Live Demo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45-minute walkthrough of E-Board configured for your institution's workflo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190875" y="2000250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. 30-Day Pilot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Full platform access for one board or committee with training and dedicated suppor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905500" y="2000250"/>
            <a:ext cx="2571750" cy="762000"/>
          </a:xfrm>
          <a:prstGeom prst="rect">
            <a:avLst/>
          </a:prstGeom>
          <a:solidFill>
            <a:srgbClr val="003D1A">
              <a:alpha val="100000"/>
            </a:srgbClr>
          </a:solidFill>
          <a:ln w="9525" cap="flat" cmpd="sng" algn="ctr">
            <a:solidFill>
              <a:srgbClr val="1A5A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0" lIns="114300" rIns="114300" tIns="9525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3. Go Live]]></a:t>
            </a:r>
            <a:br/>
            <a:r>
              <a:rPr lang="en-US" strike="noStrike" sz="10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Full deployment with institutional branding, data migration, and support SL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714500" y="3000375"/>
            <a:ext cx="5334000" cy="571500"/>
          </a:xfrm>
          <a:prstGeom prst="rect">
            <a:avLst/>
          </a:prstGeom>
          <a:solidFill>
            <a:srgbClr val="003D1A">
              <a:alpha val="100000"/>
            </a:srgbClr>
          </a:solidFill>
          <a:ln w="19050" cap="flat" cmpd="sng" algn="ctr">
            <a:solidFill>
              <a:srgbClr val="E8A23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142875" rIns="91440" tIns="7620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8A23A">
                    <a:alpha val="100000"/>
                  </a:srgbClr>
                </a:solidFill>
                <a:latin typeface="Calibri"/>
              </a:rPr>
              <a:t><![CDATA[ICT Authority Kenya]]></a:t>
            </a:r>
            <a:br/>
            <a:r>
              <a:rPr lang="en-US" strike="noStrike" sz="1100" spc="0" u="none" cap="none">
                <a:solidFill>
                  <a:srgbClr val="B8E8CC">
                    <a:alpha val="100000"/>
                  </a:srgbClr>
                </a:solidFill>
                <a:latin typeface="Calibri"/>
              </a:rPr>
              <a:t><![CDATA[www.icta.go.ke  |  A Digitally Empowered Society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3">
  <a:themeElements>
    <a:clrScheme name="Theme4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17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ICT Authority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ICT Authority Kenya</dc:creator>
  <cp:lastModifiedBy>Unknown Creator</cp:lastModifiedBy>
  <dcterms:created xsi:type="dcterms:W3CDTF">2026-08-27T05:02:04Z</dcterms:created>
  <dcterms:modified xsi:type="dcterms:W3CDTF">2026-08-27T05:02:04Z</dcterms:modified>
  <dc:title>E-Board Digital Board Governance Platform</dc:title>
  <dc:description>E-Board: A digital governance platform by ICT Authority Kenya for managing board operations in government institutions</dc:description>
  <dc:subject>Digital Board Governance Solution for Government Institutions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